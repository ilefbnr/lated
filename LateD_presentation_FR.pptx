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27103" y="0"/>
            <a:ext cx="164592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10058400" cy="5486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7200" b="1" i="0">
                <a:solidFill>
                  <a:srgbClr val="22D3EE"/>
                </a:solidFill>
                <a:latin typeface="Calibri"/>
              </a:rPr>
              <a:t>LateD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058400" cy="5486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3000" b="1" i="0">
                <a:solidFill>
                  <a:srgbClr val="E5E7EB"/>
                </a:solidFill>
                <a:latin typeface="Calibri"/>
              </a:rPr>
              <a:t>Plateforme SOC de Détection du Mouvement Latéral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600" b="0" i="1">
                <a:solidFill>
                  <a:srgbClr val="9CA3AF"/>
                </a:solidFill>
                <a:latin typeface="Calibri"/>
              </a:rPr>
              <a:t>Temporal Graph Neural Networks · Détection de reconnaissance · Reconstruction des chemins d'attaque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31920"/>
            <a:ext cx="2560320" cy="109728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931920"/>
            <a:ext cx="45000" cy="10972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023360"/>
            <a:ext cx="2331720" cy="292608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1" i="0">
                <a:solidFill>
                  <a:srgbClr val="9CA3AF"/>
                </a:solidFill>
                <a:latin typeface="Calibri"/>
              </a:rPr>
              <a:t>MODÈLE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279392"/>
            <a:ext cx="2331720" cy="5486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200" b="1" i="0">
                <a:solidFill>
                  <a:srgbClr val="E5E7EB"/>
                </a:solidFill>
                <a:latin typeface="Calibri"/>
              </a:rPr>
              <a:t>TGNN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617720"/>
            <a:ext cx="2331720" cy="3200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Graph neural net temporel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3931920"/>
            <a:ext cx="2560320" cy="109728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66160" y="3931920"/>
            <a:ext cx="45000" cy="10972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4023360"/>
            <a:ext cx="2331720" cy="292608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1" i="0">
                <a:solidFill>
                  <a:srgbClr val="9CA3AF"/>
                </a:solidFill>
                <a:latin typeface="Calibri"/>
              </a:rPr>
              <a:t>PHASES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4279392"/>
            <a:ext cx="2331720" cy="5486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200" b="1" i="0">
                <a:solidFill>
                  <a:srgbClr val="E5E7EB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0752" y="4617720"/>
            <a:ext cx="2331720" cy="3200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Offline (train) + Online (detect)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931920"/>
            <a:ext cx="2560320" cy="109728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931920"/>
            <a:ext cx="45000" cy="10972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4023360"/>
            <a:ext cx="2331720" cy="292608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1" i="0">
                <a:solidFill>
                  <a:srgbClr val="9CA3AF"/>
                </a:solidFill>
                <a:latin typeface="Calibri"/>
              </a:rPr>
              <a:t>MODULES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4279392"/>
            <a:ext cx="2331720" cy="5486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200" b="1" i="0">
                <a:solidFill>
                  <a:srgbClr val="E5E7EB"/>
                </a:solidFill>
                <a:latin typeface="Calibri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4617720"/>
            <a:ext cx="2331720" cy="3200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Strictement séparés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3931920"/>
            <a:ext cx="2560320" cy="109728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3931920"/>
            <a:ext cx="45000" cy="10972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152" y="4023360"/>
            <a:ext cx="2331720" cy="292608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1" i="0">
                <a:solidFill>
                  <a:srgbClr val="9CA3AF"/>
                </a:solidFill>
                <a:latin typeface="Calibri"/>
              </a:rPr>
              <a:t>DONNÉES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152" y="4279392"/>
            <a:ext cx="2331720" cy="5486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200" b="1" i="0">
                <a:solidFill>
                  <a:srgbClr val="E5E7EB"/>
                </a:solidFill>
                <a:latin typeface="Calibri"/>
              </a:rPr>
              <a:t>LANL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7152" y="4617720"/>
            <a:ext cx="2331720" cy="3200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Flows + Redteam labels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  <a:latin typeface="Calibri"/>
              </a:rPr>
              <a:t>Présentation interne  ·  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5720"/>
            <a:ext cx="7315200" cy="4572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LateD  ·  Lateral Movement Detection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2468880" cy="4572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SOC · TGNN · Real-time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1.  L'idée — Pourquoi LateD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  <a:latin typeface="Calibri"/>
              </a:rPr>
              <a:t>Le mouvement latéral est l'angle mort des défenses périmétriques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27632"/>
            <a:ext cx="11247120" cy="15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5577840" cy="438912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502920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  <a:latin typeface="Calibri"/>
              </a:rPr>
              <a:t>🔴  LE PROBLÈME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5120640" cy="3657600"/>
          </a:xfrm>
          <a:prstGeom prst="rect">
            <a:avLst/>
          </a:prstGeom>
          <a:noFill/>
        </p:spPr>
        <p:txBody>
          <a:bodyPr wrap="square" lIns="40000" rIns="40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87171"/>
                </a:solidFill>
                <a:latin typeface="Calibri"/>
              </a:rPr>
              <a:t>▸  </a:t>
            </a:r>
            <a:r>
              <a:rPr sz="1300">
                <a:solidFill>
                  <a:srgbClr val="E5E7EB"/>
                </a:solidFill>
                <a:latin typeface="Calibri"/>
              </a:rPr>
              <a:t>Les IDS/Firewalls voient l'entrée — pas la propagation interne.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87171"/>
                </a:solidFill>
                <a:latin typeface="Calibri"/>
              </a:rPr>
              <a:t>▸  </a:t>
            </a:r>
            <a:r>
              <a:rPr sz="1300">
                <a:solidFill>
                  <a:srgbClr val="E5E7EB"/>
                </a:solidFill>
                <a:latin typeface="Calibri"/>
              </a:rPr>
              <a:t>Une fois dans le LAN, l'attaquant pivote d'hôte en hôte (RDP, SMB, WMI, PsExec, Kerberos).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87171"/>
                </a:solidFill>
                <a:latin typeface="Calibri"/>
              </a:rPr>
              <a:t>▸  </a:t>
            </a:r>
            <a:r>
              <a:rPr sz="1300">
                <a:solidFill>
                  <a:srgbClr val="E5E7EB"/>
                </a:solidFill>
                <a:latin typeface="Calibri"/>
              </a:rPr>
              <a:t>Le SIEM agrège des logs : il ne « voit » pas le graphe temporel des connexions.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87171"/>
                </a:solidFill>
                <a:latin typeface="Calibri"/>
              </a:rPr>
              <a:t>▸  </a:t>
            </a:r>
            <a:r>
              <a:rPr sz="1300">
                <a:solidFill>
                  <a:srgbClr val="E5E7EB"/>
                </a:solidFill>
                <a:latin typeface="Calibri"/>
              </a:rPr>
              <a:t>Conséquence : MTTD moyen &gt; 200 jours sur le mouvement latéral.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87171"/>
                </a:solidFill>
                <a:latin typeface="Calibri"/>
              </a:rPr>
              <a:t>▸  </a:t>
            </a:r>
            <a:r>
              <a:rPr sz="1300">
                <a:solidFill>
                  <a:srgbClr val="E5E7EB"/>
                </a:solidFill>
                <a:latin typeface="Calibri"/>
              </a:rPr>
              <a:t>Les attaques APT (NotPetya, SolarWinds…) exploitent exactement cet angle mort.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486400" cy="438912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65960"/>
            <a:ext cx="502920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✅  NOTRE APPROCHE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77440"/>
            <a:ext cx="5029200" cy="3657600"/>
          </a:xfrm>
          <a:prstGeom prst="rect">
            <a:avLst/>
          </a:prstGeom>
          <a:noFill/>
        </p:spPr>
        <p:txBody>
          <a:bodyPr wrap="square" lIns="40000" rIns="40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Calibri"/>
              </a:rPr>
              <a:t>▸  </a:t>
            </a:r>
            <a:r>
              <a:rPr sz="1300">
                <a:solidFill>
                  <a:srgbClr val="E5E7EB"/>
                </a:solidFill>
                <a:latin typeface="Calibri"/>
              </a:rPr>
              <a:t>Modéliser le trafic interne comme un graphe temporel (nœuds = hôtes, arêtes = flux).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Calibri"/>
              </a:rPr>
              <a:t>▸  </a:t>
            </a:r>
            <a:r>
              <a:rPr sz="1300">
                <a:solidFill>
                  <a:srgbClr val="E5E7EB"/>
                </a:solidFill>
                <a:latin typeface="Calibri"/>
              </a:rPr>
              <a:t>Apprendre la « normalité dynamique » par TGNN sur LANL.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Calibri"/>
              </a:rPr>
              <a:t>▸  </a:t>
            </a:r>
            <a:r>
              <a:rPr sz="1300">
                <a:solidFill>
                  <a:srgbClr val="E5E7EB"/>
                </a:solidFill>
                <a:latin typeface="Calibri"/>
              </a:rPr>
              <a:t>Coupler avec un détecteur de reconnaissance (scans, énumération).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Calibri"/>
              </a:rPr>
              <a:t>▸  </a:t>
            </a:r>
            <a:r>
              <a:rPr sz="1300">
                <a:solidFill>
                  <a:srgbClr val="E5E7EB"/>
                </a:solidFill>
                <a:latin typeface="Calibri"/>
              </a:rPr>
              <a:t>Fusionner les signaux → score de suspicion par hôte / fenêtre.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Calibri"/>
              </a:rPr>
              <a:t>▸  </a:t>
            </a:r>
            <a:r>
              <a:rPr sz="1300">
                <a:solidFill>
                  <a:srgbClr val="E5E7EB"/>
                </a:solidFill>
                <a:latin typeface="Calibri"/>
              </a:rPr>
              <a:t>Reconstruire les chemins d'attaque pour l'analyste SOC.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Calibri"/>
              </a:rPr>
              <a:t>▸  </a:t>
            </a:r>
            <a:r>
              <a:rPr sz="1300">
                <a:solidFill>
                  <a:srgbClr val="E5E7EB"/>
                </a:solidFill>
                <a:latin typeface="Calibri"/>
              </a:rPr>
              <a:t>Tout est expliquable : chaque alerte remonte à ses flux sources.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LateD — Présentation du projet  · 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5720"/>
            <a:ext cx="7315200" cy="4572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LateD  ·  Lateral Movement Detection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2468880" cy="4572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SOC · TGNN · Real-time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2.  Vision &amp; objectifs produit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  <a:latin typeface="Calibri"/>
              </a:rPr>
              <a:t>Une plateforme SOC opérationnelle, pas un POC académique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27632"/>
            <a:ext cx="11247120" cy="15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5577840" cy="205740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920240"/>
            <a:ext cx="5577840" cy="32004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47672"/>
            <a:ext cx="521208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0B121F"/>
                </a:solidFill>
                <a:latin typeface="Calibri"/>
              </a:rPr>
              <a:t>DÉTECTION TEMPS-RÉEL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77440"/>
            <a:ext cx="5212080" cy="64008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3000" b="1" i="0">
                <a:solidFill>
                  <a:srgbClr val="E5E7EB"/>
                </a:solidFill>
                <a:latin typeface="Calibri"/>
              </a:rPr>
              <a:t>TGNN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63240"/>
            <a:ext cx="5212080" cy="9144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Score par arête à la volée sur le flux Zeek/PCAP/NetFlow.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920240"/>
            <a:ext cx="5577840" cy="205740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1920240"/>
            <a:ext cx="557784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947672"/>
            <a:ext cx="521208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0B121F"/>
                </a:solidFill>
                <a:latin typeface="Calibri"/>
              </a:rPr>
              <a:t>EXPLICABILITÉ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377440"/>
            <a:ext cx="5212080" cy="64008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3000" b="1" i="0">
                <a:solidFill>
                  <a:srgbClr val="E5E7EB"/>
                </a:solidFill>
                <a:latin typeface="Calibri"/>
              </a:rPr>
              <a:t>100 %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063240"/>
            <a:ext cx="5212080" cy="9144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Chaque alerte porte ses flux sources et son raisonnement.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160520"/>
            <a:ext cx="5577840" cy="205740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4160520"/>
            <a:ext cx="5577840" cy="3200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87952"/>
            <a:ext cx="521208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0B121F"/>
                </a:solidFill>
                <a:latin typeface="Calibri"/>
              </a:rPr>
              <a:t>ISOLATION DE PANNE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617720"/>
            <a:ext cx="5212080" cy="64008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3000" b="1" i="0">
                <a:solidFill>
                  <a:srgbClr val="E5E7EB"/>
                </a:solidFill>
                <a:latin typeface="Calibri"/>
              </a:rPr>
              <a:t>Strict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03520"/>
            <a:ext cx="5212080" cy="9144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Une panne TGNN n'éteint pas la détection recon, et vice-versa.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160520"/>
            <a:ext cx="5577840" cy="205740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09360" y="4160520"/>
            <a:ext cx="5577840" cy="32004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187952"/>
            <a:ext cx="521208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0B121F"/>
                </a:solidFill>
                <a:latin typeface="Calibri"/>
              </a:rPr>
              <a:t>REPLAYABILITY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617720"/>
            <a:ext cx="5212080" cy="64008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3000" b="1" i="0">
                <a:solidFill>
                  <a:srgbClr val="E5E7EB"/>
                </a:solidFill>
                <a:latin typeface="Calibri"/>
              </a:rPr>
              <a:t>Forensic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303520"/>
            <a:ext cx="5212080" cy="9144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Toute détection re-jouable depuis les flows canoniques.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LateD — Présentation du projet  · 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5720"/>
            <a:ext cx="7315200" cy="4572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LateD  ·  Lateral Movement Detection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2468880" cy="4572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SOC · TGNN · Real-time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3.  Architecture globale (vue système)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  <a:latin typeface="Calibri"/>
              </a:rPr>
              <a:t>Empilement strict : ingestion → graphe → détection → corrélation → SOC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27632"/>
            <a:ext cx="11247120" cy="15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10881360" cy="566928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164592" cy="56692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883664"/>
            <a:ext cx="5029200" cy="292608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E5E7EB"/>
                </a:solidFill>
                <a:latin typeface="Calibri"/>
              </a:rPr>
              <a:t>SOC Dashboard (UI)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21408"/>
            <a:ext cx="10058400" cy="292608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Calibri"/>
              </a:rPr>
              <a:t>Next.js · TypeScript · Tailwind · Framer · Cytoscape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68880"/>
            <a:ext cx="10881360" cy="566928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468880"/>
            <a:ext cx="164592" cy="5669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523744"/>
            <a:ext cx="5029200" cy="292608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E5E7EB"/>
                </a:solidFill>
                <a:latin typeface="Calibri"/>
              </a:rPr>
              <a:t>Supervision Layer (FastAPI)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761488"/>
            <a:ext cx="10058400" cy="292608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Calibri"/>
              </a:rPr>
              <a:t>REST API · WebSocket server · Alert engine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108960"/>
            <a:ext cx="10881360" cy="566928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108960"/>
            <a:ext cx="164592" cy="5669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163824"/>
            <a:ext cx="5029200" cy="292608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E5E7EB"/>
                </a:solidFill>
                <a:latin typeface="Calibri"/>
              </a:rPr>
              <a:t>Correlation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401568"/>
            <a:ext cx="10058400" cy="292608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Calibri"/>
              </a:rPr>
              <a:t>recon → LM chaining · pivots · timelines · attack paths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49040"/>
            <a:ext cx="10881360" cy="566928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749040"/>
            <a:ext cx="164592" cy="56692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803904"/>
            <a:ext cx="5029200" cy="292608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E5E7EB"/>
                </a:solidFill>
                <a:latin typeface="Calibri"/>
              </a:rPr>
              <a:t>Detection Core (AI)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041648"/>
            <a:ext cx="10058400" cy="292608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Calibri"/>
              </a:rPr>
              <a:t>TGNN LM · Recon detector · Suspicion fusion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389120"/>
            <a:ext cx="10881360" cy="566928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389120"/>
            <a:ext cx="164592" cy="5669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443984"/>
            <a:ext cx="5029200" cy="292608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E5E7EB"/>
                </a:solidFill>
                <a:latin typeface="Calibri"/>
              </a:rPr>
              <a:t>Temporal Graph Modeling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681728"/>
            <a:ext cx="10058400" cy="292608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Calibri"/>
              </a:rPr>
              <a:t>snapshots · edge features · node features · stats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029200"/>
            <a:ext cx="10881360" cy="566928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029200"/>
            <a:ext cx="164592" cy="56692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084064"/>
            <a:ext cx="5029200" cy="292608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E5E7EB"/>
                </a:solidFill>
                <a:latin typeface="Calibri"/>
              </a:rPr>
              <a:t>Ingestion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321808"/>
            <a:ext cx="10058400" cy="292608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Calibri"/>
              </a:rPr>
              <a:t>PCAP · Zeek · NetFlow → Canonical Flow schema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669280"/>
            <a:ext cx="10881360" cy="566928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5669280"/>
            <a:ext cx="164592" cy="5669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724144"/>
            <a:ext cx="5029200" cy="292608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E5E7EB"/>
                </a:solidFill>
                <a:latin typeface="Calibri"/>
              </a:rPr>
              <a:t>Network Discovery (bootstrap)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961888"/>
            <a:ext cx="10058400" cy="292608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Calibri"/>
              </a:rPr>
              <a:t>passive · active · hybrid → baseline topology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11612880" y="2331720"/>
            <a:ext cx="164592" cy="128016"/>
          </a:xfrm>
          <a:prstGeom prst="down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own Arrow 38"/>
          <p:cNvSpPr/>
          <p:nvPr/>
        </p:nvSpPr>
        <p:spPr>
          <a:xfrm>
            <a:off x="11612880" y="2971800"/>
            <a:ext cx="164592" cy="128016"/>
          </a:xfrm>
          <a:prstGeom prst="down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own Arrow 39"/>
          <p:cNvSpPr/>
          <p:nvPr/>
        </p:nvSpPr>
        <p:spPr>
          <a:xfrm>
            <a:off x="11612880" y="3611880"/>
            <a:ext cx="164592" cy="128016"/>
          </a:xfrm>
          <a:prstGeom prst="down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own Arrow 40"/>
          <p:cNvSpPr/>
          <p:nvPr/>
        </p:nvSpPr>
        <p:spPr>
          <a:xfrm>
            <a:off x="11612880" y="4251960"/>
            <a:ext cx="164592" cy="128016"/>
          </a:xfrm>
          <a:prstGeom prst="down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own Arrow 41"/>
          <p:cNvSpPr/>
          <p:nvPr/>
        </p:nvSpPr>
        <p:spPr>
          <a:xfrm>
            <a:off x="11612880" y="4892040"/>
            <a:ext cx="164592" cy="128016"/>
          </a:xfrm>
          <a:prstGeom prst="down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own Arrow 42"/>
          <p:cNvSpPr/>
          <p:nvPr/>
        </p:nvSpPr>
        <p:spPr>
          <a:xfrm>
            <a:off x="11612880" y="5532120"/>
            <a:ext cx="164592" cy="128016"/>
          </a:xfrm>
          <a:prstGeom prst="down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LateD — Présentation du projet  · 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5720"/>
            <a:ext cx="7315200" cy="4572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LateD  ·  Lateral Movement Detection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2468880" cy="4572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SOC · TGNN · Real-time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4.  Deux phases strictement séparées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  <a:latin typeface="Calibri"/>
              </a:rPr>
              <a:t>Offline = entraînement TGNN sur LANL.   Online = inférence sur trafic d'entreprise.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27632"/>
            <a:ext cx="11247120" cy="15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5577840" cy="448056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5577840" cy="36576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65376"/>
            <a:ext cx="5029200" cy="3200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0B121F"/>
                </a:solidFill>
                <a:latin typeface="Calibri"/>
              </a:rPr>
              <a:t>PHASE A — OFFLINE  (entraînement)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331720"/>
            <a:ext cx="5212080" cy="292608"/>
          </a:xfrm>
          <a:prstGeom prst="roundRect">
            <a:avLst/>
          </a:prstGeom>
          <a:solidFill>
            <a:srgbClr val="18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359152"/>
            <a:ext cx="18288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lanl_parser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359152"/>
            <a:ext cx="32004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Lecture brute du dataset LANL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660904"/>
            <a:ext cx="5212080" cy="292608"/>
          </a:xfrm>
          <a:prstGeom prst="roundRect">
            <a:avLst/>
          </a:prstGeom>
          <a:solidFill>
            <a:srgbClr val="18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688336"/>
            <a:ext cx="18288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weak_labeler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2688336"/>
            <a:ext cx="32004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Labels faibles à partir du redteam log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990088"/>
            <a:ext cx="5212080" cy="292608"/>
          </a:xfrm>
          <a:prstGeom prst="roundRect">
            <a:avLst/>
          </a:prstGeom>
          <a:solidFill>
            <a:srgbClr val="18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017520"/>
            <a:ext cx="18288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dataset_builder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3017520"/>
            <a:ext cx="32004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Snapshots temporels + features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319272"/>
            <a:ext cx="5212080" cy="292608"/>
          </a:xfrm>
          <a:prstGeom prst="roundRect">
            <a:avLst/>
          </a:prstGeom>
          <a:solidFill>
            <a:srgbClr val="18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346704"/>
            <a:ext cx="18288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pretrain_ssl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3346704"/>
            <a:ext cx="32004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Pré-entraînement auto-supervisé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648456"/>
            <a:ext cx="5212080" cy="292608"/>
          </a:xfrm>
          <a:prstGeom prst="roundRect">
            <a:avLst/>
          </a:prstGeom>
          <a:solidFill>
            <a:srgbClr val="18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675888"/>
            <a:ext cx="18288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finetune_lm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3675888"/>
            <a:ext cx="32004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Fine-tuning semi-supervisé LM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977640"/>
            <a:ext cx="5212080" cy="292608"/>
          </a:xfrm>
          <a:prstGeom prst="roundRect">
            <a:avLst/>
          </a:prstGeom>
          <a:solidFill>
            <a:srgbClr val="18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005072"/>
            <a:ext cx="18288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evaluate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4005072"/>
            <a:ext cx="32004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Métriques (PR-AUC, FPR@TPR)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306824"/>
            <a:ext cx="5212080" cy="292608"/>
          </a:xfrm>
          <a:prstGeom prst="roundRect">
            <a:avLst/>
          </a:prstGeom>
          <a:solidFill>
            <a:srgbClr val="18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334256"/>
            <a:ext cx="18288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export_model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06040" y="4334256"/>
            <a:ext cx="32004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→ tgnn_lm.pt  (artefact unique)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828800"/>
            <a:ext cx="5486400" cy="448056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17920" y="1828800"/>
            <a:ext cx="5486400" cy="36576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1865376"/>
            <a:ext cx="5029200" cy="3200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0B121F"/>
                </a:solidFill>
                <a:latin typeface="Calibri"/>
              </a:rPr>
              <a:t>PHASE B — ONLINE  (détection temps réel)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2331720"/>
            <a:ext cx="5120640" cy="274320"/>
          </a:xfrm>
          <a:prstGeom prst="roundRect">
            <a:avLst/>
          </a:prstGeom>
          <a:solidFill>
            <a:srgbClr val="18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2354580"/>
            <a:ext cx="18288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discovery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2354580"/>
            <a:ext cx="32004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Baseline topology (passif / actif)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2642616"/>
            <a:ext cx="5120640" cy="274320"/>
          </a:xfrm>
          <a:prstGeom prst="roundRect">
            <a:avLst/>
          </a:prstGeom>
          <a:solidFill>
            <a:srgbClr val="18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2665476"/>
            <a:ext cx="18288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ingestion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2665476"/>
            <a:ext cx="32004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PCAP/Zeek/NetFlow → CanonicalFlow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2953512"/>
            <a:ext cx="5120640" cy="274320"/>
          </a:xfrm>
          <a:prstGeom prst="roundRect">
            <a:avLst/>
          </a:prstGeom>
          <a:solidFill>
            <a:srgbClr val="18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2976372"/>
            <a:ext cx="18288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graph builder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2976372"/>
            <a:ext cx="32004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Temporal snapshots (30 s par défaut)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3264408"/>
            <a:ext cx="5120640" cy="274320"/>
          </a:xfrm>
          <a:prstGeom prst="roundRect">
            <a:avLst/>
          </a:prstGeom>
          <a:solidFill>
            <a:srgbClr val="18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37960" y="3287268"/>
            <a:ext cx="18288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TGNN LM detector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3287268"/>
            <a:ext cx="32004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Score par arête / par hôte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3575304"/>
            <a:ext cx="5120640" cy="274320"/>
          </a:xfrm>
          <a:prstGeom prst="roundRect">
            <a:avLst/>
          </a:prstGeom>
          <a:solidFill>
            <a:srgbClr val="18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37960" y="3598164"/>
            <a:ext cx="18288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Recon detector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60" y="3598164"/>
            <a:ext cx="32004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Score par hôte source (sliding win.)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3886200"/>
            <a:ext cx="5120640" cy="274320"/>
          </a:xfrm>
          <a:prstGeom prst="roundRect">
            <a:avLst/>
          </a:prstGeom>
          <a:solidFill>
            <a:srgbClr val="18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37960" y="3909060"/>
            <a:ext cx="18288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Suspicion fusion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3909060"/>
            <a:ext cx="32004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Score unifié + métadonnées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0" y="4197096"/>
            <a:ext cx="5120640" cy="274320"/>
          </a:xfrm>
          <a:prstGeom prst="roundRect">
            <a:avLst/>
          </a:prstGeom>
          <a:solidFill>
            <a:srgbClr val="18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37960" y="4219956"/>
            <a:ext cx="18288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Correlation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4219956"/>
            <a:ext cx="32004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AttackPath chronologique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0" y="4507992"/>
            <a:ext cx="5120640" cy="274320"/>
          </a:xfrm>
          <a:prstGeom prst="roundRect">
            <a:avLst/>
          </a:prstGeom>
          <a:solidFill>
            <a:srgbClr val="18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7960" y="4530852"/>
            <a:ext cx="18288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Alert engine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66760" y="4530852"/>
            <a:ext cx="32004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REST + WebSocket → SOC UI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LateD — Présentation du projet  ·  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5720"/>
            <a:ext cx="7315200" cy="4572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LateD  ·  Lateral Movement Detection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2468880" cy="4572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SOC · TGNN · Real-time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5.  Carte des modules — backend/src/lated/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  <a:latin typeface="Calibri"/>
              </a:rPr>
              <a:t>Chaque dossier = une responsabilité unique, un contrat narrow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27632"/>
            <a:ext cx="11247120" cy="15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82880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121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121F"/>
                          </a:solidFill>
                          <a:latin typeface="Calibri"/>
                        </a:rPr>
                        <a:t>Chemin</a:t>
                      </a:r>
                    </a:p>
                  </a:txBody>
                  <a:tcPr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121F"/>
                          </a:solidFill>
                          <a:latin typeface="Calibri"/>
                        </a:rPr>
                        <a:t>Responsabilité</a:t>
                      </a:r>
                    </a:p>
                  </a:txBody>
                  <a:tcPr>
                    <a:solidFill>
                      <a:srgbClr val="22D3EE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Network Discovery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discovery/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Découverte passive/active — baseline topologique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Ingestion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ingestion/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Normaliser PCAP / Zeek / NetFlow → flows canoniques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Temporal Graph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graph/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Construction de snapshots + features arêtes/nœuds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Detection Core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detection/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TGNN LM + détecteur recon + fusion de suspicion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Correlation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correlation/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Chaînage recon→LM, pivots, reconstruction de chemins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Supervision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supervision/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API REST, WebSocket, alert engine, persistence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Pipelines offline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pipelines/offline/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Pipeline complet d'entraînement LANL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Pipelines online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pipelines/online/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Orchestration du streaming temps-réel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Frontend SOC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frontend/src/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Console opérateur React/Next.js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LateD — Présentation du projet  · 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5720"/>
            <a:ext cx="7315200" cy="4572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LateD  ·  Lateral Movement Detection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2468880" cy="4572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SOC · TGNN · Real-time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6.  Modules — Discovery &amp;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  <a:latin typeface="Calibri"/>
              </a:rPr>
              <a:t>Avant tout calcul IA : connaître le terrain et normaliser les entrées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27632"/>
            <a:ext cx="11247120" cy="15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5577840" cy="438912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5577840" cy="36576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65376"/>
            <a:ext cx="5029200" cy="3200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0B121F"/>
                </a:solidFill>
                <a:latin typeface="Calibri"/>
              </a:rPr>
              <a:t>DISCOVERY  ·  discovery/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86000"/>
            <a:ext cx="521208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200" b="0" i="1">
                <a:solidFill>
                  <a:srgbClr val="34D399"/>
                </a:solidFill>
                <a:latin typeface="Calibri"/>
              </a:rPr>
              <a:t>Bootstrapper le graphe de référence du réseau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97480"/>
            <a:ext cx="5212080" cy="3383280"/>
          </a:xfrm>
          <a:prstGeom prst="rect">
            <a:avLst/>
          </a:prstGeom>
          <a:noFill/>
        </p:spPr>
        <p:txBody>
          <a:bodyPr wrap="square" lIns="40000" rIns="40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passive_discovery.py — sniff ARP / DNS / Zeek logs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active_discovery.py — scans (opt-in, désactivé par défaut)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host_registry.py — référentiel des hôtes (IP, MAC, OS, rôle)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topology_builder.py — assemble la baseline graph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baseline_graph.py — modèle immuable de la topologie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discovery_service.py — orchestrateur du bootstrap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5486400" cy="438912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1828800"/>
            <a:ext cx="5486400" cy="36576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865376"/>
            <a:ext cx="5029200" cy="3200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0B121F"/>
                </a:solidFill>
                <a:latin typeface="Calibri"/>
              </a:rPr>
              <a:t>INGESTION  ·  ingestion/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86000"/>
            <a:ext cx="521208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200" b="0" i="1">
                <a:solidFill>
                  <a:srgbClr val="A78BFA"/>
                </a:solidFill>
                <a:latin typeface="Calibri"/>
              </a:rPr>
              <a:t>Du capteur brut au schéma canonique unique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97480"/>
            <a:ext cx="5212080" cy="3383280"/>
          </a:xfrm>
          <a:prstGeom prst="rect">
            <a:avLst/>
          </a:prstGeom>
          <a:noFill/>
        </p:spPr>
        <p:txBody>
          <a:bodyPr wrap="square" lIns="40000" rIns="40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A78BFA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pcap_parser.py — scapy, lecture binaire PCAP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A78BFA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zeek_parser.py — conn.log / dns.log / kerberos.log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A78BFA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netflow_parser.py — NetFlow v5/v9, IPFIX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A78BFA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flow_normalizer.py — uniformisation des champs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A78BFA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flow_validator.py — schéma strict (pydantic)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A78BFA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canonical_schema.py — modèle CanonicalFlow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A78BFA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flow_store.py — persistance immuable (forensic-ready)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LateD — Présentation du projet  · 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5720"/>
            <a:ext cx="7315200" cy="4572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LateD  ·  Lateral Movement Detection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2468880" cy="4572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SOC · TGNN · Real-time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7.  Modules — Temporal Graph &amp; Detection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  <a:latin typeface="Calibri"/>
              </a:rPr>
              <a:t>Le cœur scientifique de la plateforme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27632"/>
            <a:ext cx="11247120" cy="15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5577840" cy="438912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5577840" cy="36576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65376"/>
            <a:ext cx="5029200" cy="3200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0B121F"/>
                </a:solidFill>
                <a:latin typeface="Calibri"/>
              </a:rPr>
              <a:t>TEMPORAL GRAPH  ·  graph/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86000"/>
            <a:ext cx="521208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200" b="0" i="1">
                <a:solidFill>
                  <a:srgbClr val="22D3EE"/>
                </a:solidFill>
                <a:latin typeface="Calibri"/>
              </a:rPr>
              <a:t>Transforme un flux de flows en graphe dynamique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97480"/>
            <a:ext cx="5212080" cy="3383280"/>
          </a:xfrm>
          <a:prstGeom prst="rect">
            <a:avLst/>
          </a:prstGeom>
          <a:noFill/>
        </p:spPr>
        <p:txBody>
          <a:bodyPr wrap="square" lIns="40000" rIns="40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snapshot_manager.py — fenêtres temporelles (30 s)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graph_builder.py — assemblage nœuds/arêtes par snapshot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edge_features.py — durée, octets, ports, protocoles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node_features.py — degré, rôle, historique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graph_statistics.py — betweenness, degree-Δ, …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temporal_graph.py — modèle de graphe dynamique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graph_store.py — persistance + retrieval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5486400" cy="438912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1828800"/>
            <a:ext cx="5486400" cy="36576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865376"/>
            <a:ext cx="5029200" cy="3200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0B121F"/>
                </a:solidFill>
                <a:latin typeface="Calibri"/>
              </a:rPr>
              <a:t>DETECTION CORE  ·  detection/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86000"/>
            <a:ext cx="521208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200" b="0" i="1">
                <a:solidFill>
                  <a:srgbClr val="F87171"/>
                </a:solidFill>
                <a:latin typeface="Calibri"/>
              </a:rPr>
              <a:t>Trois sous-modules indépendants, fusion finale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97480"/>
            <a:ext cx="5212080" cy="3383280"/>
          </a:xfrm>
          <a:prstGeom prst="rect">
            <a:avLst/>
          </a:prstGeom>
          <a:noFill/>
        </p:spPr>
        <p:txBody>
          <a:bodyPr wrap="square" lIns="40000" rIns="40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87171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tgnn/ — Modèle TGN (LM scoring sur arêtes/hôtes)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87171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recon/ — Heuristique + behavioral (scans, énumération)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87171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fusion/ — Combine LMScore + ReconScore → SuspicionScore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87171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Failure isolation : panne TGNN ≠ panne recon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87171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Tous les scores sont expliquables (flux sources)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87171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Sorties typées (pydantic) consommées par la corrélation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LateD — Présentation du projet  · 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5720"/>
            <a:ext cx="7315200" cy="4572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LateD  ·  Lateral Movement Detection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2468880" cy="4572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SOC · TGNN · Real-time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8.  Modules — Correlation &amp; Supervision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  <a:latin typeface="Calibri"/>
              </a:rPr>
              <a:t>Du score brut à l'expérience analyste SOC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27632"/>
            <a:ext cx="11247120" cy="15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5577840" cy="438912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5577840" cy="36576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65376"/>
            <a:ext cx="5029200" cy="3200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0B121F"/>
                </a:solidFill>
                <a:latin typeface="Calibri"/>
              </a:rPr>
              <a:t>CORRELATION  ·  correlation/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86000"/>
            <a:ext cx="521208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200" b="0" i="1">
                <a:solidFill>
                  <a:srgbClr val="A78BFA"/>
                </a:solidFill>
                <a:latin typeface="Calibri"/>
              </a:rPr>
              <a:t>Recon → LM chaining, pivots, timelines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97480"/>
            <a:ext cx="5212080" cy="3383280"/>
          </a:xfrm>
          <a:prstGeom prst="rect">
            <a:avLst/>
          </a:prstGeom>
          <a:noFill/>
        </p:spPr>
        <p:txBody>
          <a:bodyPr wrap="square" lIns="40000" rIns="40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A78BFA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correlation_engine.py — chef d'orchestre du chaînage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A78BFA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graph_adjacency.py — voisinage temporel pour la propagation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A78BFA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propagation_analyzer.py — détecte les sauts d'hôte en hôte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A78BFA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pivot_identifier.py — repère les hôtes-pivots (bridge)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A78BFA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attack_path_builder.py — assemble AttackPath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A78BFA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timeline_reconstructor.py — chronologie horodatée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A78BFA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correlation_store.py — persistance des paths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5486400" cy="438912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1828800"/>
            <a:ext cx="5486400" cy="36576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865376"/>
            <a:ext cx="5029200" cy="3200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0B121F"/>
                </a:solidFill>
                <a:latin typeface="Calibri"/>
              </a:rPr>
              <a:t>SUPERVISION  ·  supervision/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86000"/>
            <a:ext cx="521208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200" b="0" i="1">
                <a:solidFill>
                  <a:srgbClr val="22D3EE"/>
                </a:solidFill>
                <a:latin typeface="Calibri"/>
              </a:rPr>
              <a:t>L'interface entre l'IA et l'analyste SOC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97480"/>
            <a:ext cx="5212080" cy="3383280"/>
          </a:xfrm>
          <a:prstGeom prst="rect">
            <a:avLst/>
          </a:prstGeom>
          <a:noFill/>
        </p:spPr>
        <p:txBody>
          <a:bodyPr wrap="square" lIns="40000" rIns="40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api/ — endpoints REST FastAPI (alerts, hosts, paths)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websocket/ — push temps réel vers le dashboard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alerts/ — alert engine + dédoublonnage + priorisation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storage/ — Postgres + Redis (snapshots, queues)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flows_repository.py / hosts_repository.py / paths_repository.py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graph_repository.py — accès aux snapshots persistés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auth.py — RBAC analyste SOC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LateD — Présentation du projet  · 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5720"/>
            <a:ext cx="7315200" cy="4572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LateD  ·  Lateral Movement Detection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2468880" cy="4572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SOC · TGNN · Real-time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9.  Pipelines &amp;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  <a:latin typeface="Calibri"/>
              </a:rPr>
              <a:t>Les orchestrateurs end-to-end et la console opérateur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27632"/>
            <a:ext cx="11247120" cy="15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5577840" cy="438912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5577840" cy="36576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65376"/>
            <a:ext cx="5029200" cy="3200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0B121F"/>
                </a:solidFill>
                <a:latin typeface="Calibri"/>
              </a:rPr>
              <a:t>PIPELINES  ·  pipelines/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86000"/>
            <a:ext cx="521208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200" b="0" i="1">
                <a:solidFill>
                  <a:srgbClr val="34D399"/>
                </a:solidFill>
                <a:latin typeface="Calibri"/>
              </a:rPr>
              <a:t>Glue entre tous les modules — invocable en CLI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97480"/>
            <a:ext cx="5212080" cy="3383280"/>
          </a:xfrm>
          <a:prstGeom prst="rect">
            <a:avLst/>
          </a:prstGeom>
          <a:noFill/>
        </p:spPr>
        <p:txBody>
          <a:bodyPr wrap="square" lIns="40000" rIns="40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offline/pretrain_ssl.py — pré-entraînement auto-supervisé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offline/finetune_lm.py — fine-tuning supervisé LM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offline/evaluate.py — métriques + courbes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offline/export_model.py — sérialisation tgnn_lm.pt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online/pipeline_runner.py — orchestre l'inférence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Console scripts : lated-train, lated-finetune, lated-online, lated-api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5486400" cy="438912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1828800"/>
            <a:ext cx="5486400" cy="36576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865376"/>
            <a:ext cx="5029200" cy="3200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0B121F"/>
                </a:solidFill>
                <a:latin typeface="Calibri"/>
              </a:rPr>
              <a:t>FRONTEND SOC  ·  frontend/src/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86000"/>
            <a:ext cx="521208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200" b="0" i="1">
                <a:solidFill>
                  <a:srgbClr val="F87171"/>
                </a:solidFill>
                <a:latin typeface="Calibri"/>
              </a:rPr>
              <a:t>Command center : visuel, temps réel, dense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97480"/>
            <a:ext cx="5212080" cy="3383280"/>
          </a:xfrm>
          <a:prstGeom prst="rect">
            <a:avLst/>
          </a:prstGeom>
          <a:noFill/>
        </p:spPr>
        <p:txBody>
          <a:bodyPr wrap="square" lIns="40000" rIns="40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87171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components/ — composants UI (cards, tables, alert panes)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87171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pages/ — routes Next.js (dashboard, hosts, paths, replay)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87171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visualization/ — graphes interactifs (Cytoscape)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87171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websocket/ — client WS pour la stream d'alertes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87171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services/ — clients REST typés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87171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stores/ — état global (Zustand/Redux)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87171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hooks/ · layouts/ · themes/ · types/  — couche 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LateD — Présentation du projet  · 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5720"/>
            <a:ext cx="7315200" cy="4572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LateD  ·  Lateral Movement Detection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2468880" cy="4572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SOC · TGNN · Real-time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10.  Contrats de données entre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  <a:latin typeface="Calibri"/>
              </a:rPr>
              <a:t>Tout passe par des objets typés et immuables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27632"/>
            <a:ext cx="11247120" cy="15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82880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121F"/>
                          </a:solidFill>
                          <a:latin typeface="Calibri"/>
                        </a:rPr>
                        <a:t>Étape</a:t>
                      </a:r>
                    </a:p>
                  </a:txBody>
                  <a:tcPr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121F"/>
                          </a:solidFill>
                          <a:latin typeface="Calibri"/>
                        </a:rPr>
                        <a:t>Entrée</a:t>
                      </a:r>
                    </a:p>
                  </a:txBody>
                  <a:tcPr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121F"/>
                          </a:solidFill>
                          <a:latin typeface="Calibri"/>
                        </a:rPr>
                        <a:t>Sortie</a:t>
                      </a:r>
                    </a:p>
                  </a:txBody>
                  <a:tcPr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121F"/>
                          </a:solidFill>
                          <a:latin typeface="Calibri"/>
                        </a:rPr>
                        <a:t>Détenteur du contrat</a:t>
                      </a:r>
                    </a:p>
                  </a:txBody>
                  <a:tcPr>
                    <a:solidFill>
                      <a:srgbClr val="22D3EE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Discovery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ARP/DNS/scan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BaselineGraph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discovery/baseline_graph.py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Ingestion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PCAP/Zeek/NetFlow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CanonicalFlow*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ingestion/canonical_schema.py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Graph building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CanonicalFlow*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TemporalSnapshot*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graph/temporal_graph.py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TGNN detection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TemporalSnapshot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LMScore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detection/tgnn/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Recon detection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CanonicalFlow window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ReconScore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detection/recon/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Fusion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LMScore + ReconScore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SuspicionScore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detection/fusion/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Correlation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SuspicionScore*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AttackPath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correlation/attack_path_builder.py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Supervision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AttackPath + alerts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REST + WS events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supervision/api · websocket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Calibri"/>
              </a:rPr>
              <a:t>Garanties : flows immuables · snapshots non-recouvrants · scoring monotone-expliquable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LateD — Présentation du projet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5720"/>
            <a:ext cx="7315200" cy="4572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LateD  ·  Lateral Movement Detection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2468880" cy="4572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SOC · TGNN · Real-time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11.  Stack technique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  <a:latin typeface="Calibri"/>
              </a:rPr>
              <a:t>Choisi pour la séparation runtime/training et le SOC temps-réel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27632"/>
            <a:ext cx="11247120" cy="15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3703320" cy="205740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920240"/>
            <a:ext cx="3703320" cy="29260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938528"/>
            <a:ext cx="36576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1" i="0">
                <a:solidFill>
                  <a:srgbClr val="0B121F"/>
                </a:solidFill>
                <a:latin typeface="Calibri"/>
              </a:rPr>
              <a:t>BACKEND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377440"/>
            <a:ext cx="3474720" cy="5486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200" b="1" i="0">
                <a:solidFill>
                  <a:srgbClr val="E5E7EB"/>
                </a:solidFill>
                <a:latin typeface="Calibri"/>
              </a:rPr>
              <a:t>Python 3.11+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017520"/>
            <a:ext cx="3474720" cy="9144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Calibri"/>
              </a:rPr>
              <a:t>FastAPI · pydantic v2 · uvicorn · websockets · structlog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920240"/>
            <a:ext cx="3703320" cy="205740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43400" y="1920240"/>
            <a:ext cx="3703320" cy="292608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1938528"/>
            <a:ext cx="36576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1" i="0">
                <a:solidFill>
                  <a:srgbClr val="0B121F"/>
                </a:solidFill>
                <a:latin typeface="Calibri"/>
              </a:rPr>
              <a:t>IA / 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2377440"/>
            <a:ext cx="3474720" cy="5486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200" b="1" i="0">
                <a:solidFill>
                  <a:srgbClr val="E5E7EB"/>
                </a:solidFill>
                <a:latin typeface="Calibri"/>
              </a:rPr>
              <a:t>PyTorch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3017520"/>
            <a:ext cx="3474720" cy="9144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Calibri"/>
              </a:rPr>
              <a:t>torch-geometric · scikit-learn · pandas (extra `train`)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920240"/>
            <a:ext cx="3703320" cy="205740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0" y="1920240"/>
            <a:ext cx="3703320" cy="29260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1938528"/>
            <a:ext cx="36576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1" i="0">
                <a:solidFill>
                  <a:srgbClr val="0B121F"/>
                </a:solidFill>
                <a:latin typeface="Calibri"/>
              </a:rPr>
              <a:t>INGESTION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2377440"/>
            <a:ext cx="3474720" cy="5486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200" b="1" i="0">
                <a:solidFill>
                  <a:srgbClr val="E5E7EB"/>
                </a:solidFill>
                <a:latin typeface="Calibri"/>
              </a:rPr>
              <a:t>scapy + Zeek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3017520"/>
            <a:ext cx="3474720" cy="9144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Calibri"/>
              </a:rPr>
              <a:t>PCAP binaire · conn.log · NetFlow v5/v9/IPFIX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160520"/>
            <a:ext cx="3703320" cy="205740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4160520"/>
            <a:ext cx="3703320" cy="29260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4178808"/>
            <a:ext cx="36576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1" i="0">
                <a:solidFill>
                  <a:srgbClr val="0B121F"/>
                </a:solidFill>
                <a:latin typeface="Calibri"/>
              </a:rPr>
              <a:t>PERSISTANCE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4617720"/>
            <a:ext cx="3474720" cy="5486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200" b="1" i="0">
                <a:solidFill>
                  <a:srgbClr val="E5E7EB"/>
                </a:solidFill>
                <a:latin typeface="Calibri"/>
              </a:rPr>
              <a:t>Postgres + Redis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5257800"/>
            <a:ext cx="3474720" cy="9144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Calibri"/>
              </a:rPr>
              <a:t>SQLAlchemy 2.0 · psycopg · queues temps-réel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4160520"/>
            <a:ext cx="3703320" cy="205740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43400" y="4160520"/>
            <a:ext cx="3703320" cy="29260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07992" y="4178808"/>
            <a:ext cx="36576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1" i="0">
                <a:solidFill>
                  <a:srgbClr val="0B121F"/>
                </a:solidFill>
                <a:latin typeface="Calibri"/>
              </a:rPr>
              <a:t>FRONTEND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07992" y="4617720"/>
            <a:ext cx="3474720" cy="5486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200" b="1" i="0">
                <a:solidFill>
                  <a:srgbClr val="E5E7EB"/>
                </a:solidFill>
                <a:latin typeface="Calibri"/>
              </a:rPr>
              <a:t>Next.js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07992" y="5257800"/>
            <a:ext cx="3474720" cy="9144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Calibri"/>
              </a:rPr>
              <a:t>TypeScript · Tailwind · Framer Motion · Cytoscape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4160520"/>
            <a:ext cx="3703320" cy="205740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29600" y="4160520"/>
            <a:ext cx="3703320" cy="29260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94192" y="4178808"/>
            <a:ext cx="36576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1" i="0">
                <a:solidFill>
                  <a:srgbClr val="0B121F"/>
                </a:solidFill>
                <a:latin typeface="Calibri"/>
              </a:rPr>
              <a:t>OBSERVABILITÉ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4192" y="4617720"/>
            <a:ext cx="3474720" cy="5486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200" b="1" i="0">
                <a:solidFill>
                  <a:srgbClr val="E5E7EB"/>
                </a:solidFill>
                <a:latin typeface="Calibri"/>
              </a:rPr>
              <a:t>Prometheus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4192" y="5257800"/>
            <a:ext cx="3474720" cy="9144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Calibri"/>
              </a:rPr>
              <a:t>structlog JSON · health endpoints · dashboards Grafana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LateD — Présentation du projet  · 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5720"/>
            <a:ext cx="7315200" cy="4572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LateD  ·  Lateral Movement Detection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2468880" cy="4572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SOC · TGNN · Real-time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12.  Posture de sécurité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  <a:latin typeface="Calibri"/>
              </a:rPr>
              <a:t>Une plateforme de SOC ne peut pas avoir d'angle mort interne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27632"/>
            <a:ext cx="11247120" cy="15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11247120" cy="68580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128016" cy="685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83664"/>
            <a:ext cx="41148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Isolation ingestion /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920240"/>
            <a:ext cx="6675120" cy="5943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L'ingestion ne peut pas corrompre le modèle : pas d'import croisé, tout passe par CanonicalFlow validé pydantic.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578608"/>
            <a:ext cx="11247120" cy="68580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578608"/>
            <a:ext cx="128016" cy="685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633472"/>
            <a:ext cx="41148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Recon ⊥ TGNN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670048"/>
            <a:ext cx="6675120" cy="5943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Les deux détecteurs sont strictement séparés : une panne ou un biais d'un côté ne peut pas masquer une attaque de l'autre.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328416"/>
            <a:ext cx="11247120" cy="68580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328416"/>
            <a:ext cx="128016" cy="685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383280"/>
            <a:ext cx="41148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Explicabilité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419856"/>
            <a:ext cx="6675120" cy="5943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Chaque alerte porte ses flows sources, son score, sa fenêtre, son raisonnement. Forensic-ready.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78224"/>
            <a:ext cx="11247120" cy="68580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078224"/>
            <a:ext cx="128016" cy="685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133088"/>
            <a:ext cx="41148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Active discovery = opt-in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4169664"/>
            <a:ext cx="6675120" cy="5943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Le mode passif est la valeur par défaut. Aucun scan actif sans autorisation explicite.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828032"/>
            <a:ext cx="11247120" cy="68580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828032"/>
            <a:ext cx="128016" cy="685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882896"/>
            <a:ext cx="41148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Threat model explicite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4919472"/>
            <a:ext cx="6675120" cy="5943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Capteurs supposés de confiance · attaquant à l'intérieur · training set bruyant mais non empoisonné.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577840"/>
            <a:ext cx="11247120" cy="68580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577840"/>
            <a:ext cx="128016" cy="685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632704"/>
            <a:ext cx="41148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Mypy strict + ruff sécu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5669280"/>
            <a:ext cx="6675120" cy="5943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Type errors et imports morts ne shipent pas. Règles `S` (bandit) actives sur tout le backend.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LateD — Présentation du projet  · 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5720"/>
            <a:ext cx="7315200" cy="4572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LateD  ·  Lateral Movement Detection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2468880" cy="4572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SOC · TGNN · Real-time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13.  Detection — proposition des 6 têtes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  <a:latin typeface="Calibri"/>
              </a:rPr>
              <a:t>Le tableau récapitulatif évalué : qui consomme quoi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27632"/>
            <a:ext cx="11247120" cy="15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82880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121F"/>
                          </a:solidFill>
                          <a:latin typeface="Calibri"/>
                        </a:rPr>
                        <a:t>Tête</a:t>
                      </a:r>
                    </a:p>
                  </a:txBody>
                  <a:tcPr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121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121F"/>
                          </a:solidFill>
                          <a:latin typeface="Calibri"/>
                        </a:rPr>
                        <a:t>Sortie naturelle</a:t>
                      </a:r>
                    </a:p>
                  </a:txBody>
                  <a:tcPr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121F"/>
                          </a:solidFill>
                          <a:latin typeface="Calibri"/>
                        </a:rPr>
                        <a:t>Modèle</a:t>
                      </a:r>
                    </a:p>
                  </a:txBody>
                  <a:tcPr>
                    <a:solidFill>
                      <a:srgbClr val="22D3EE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A. Rules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flows enrichis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score par flow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Règles MITRE Python pures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B. TGN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(src, dst, t, edge_feat)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score par edge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src/models/tgn.py existant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C. Anomaly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host × window features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score par (host, window)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Autoencoder dense / IsoForest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D. Sequence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événements ordonnés par acteur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score par séquence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LSTM ou template match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E. Topology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graphe par snapshot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score par host par snapshot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NetworkX (betweenness Δ)</a:t>
                      </a:r>
                    </a:p>
                  </a:txBody>
                  <a:tcPr>
                    <a:solidFill>
                      <a:srgbClr val="121C2E"/>
                    </a:solidFill>
                  </a:tcPr>
                </a:tc>
              </a:tr>
              <a:tr h="418014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F. Fusion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tous les scores ci-dessus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Alert par (host, window)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E5E7EB"/>
                          </a:solidFill>
                          <a:latin typeface="Calibri"/>
                        </a:rPr>
                        <a:t>Logistic / XGBoost</a:t>
                      </a:r>
                    </a:p>
                  </a:txBody>
                  <a:tcPr>
                    <a:solidFill>
                      <a:srgbClr val="18243A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57200" y="4937760"/>
            <a:ext cx="11247120" cy="146304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937760"/>
            <a:ext cx="128016" cy="14630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983480"/>
            <a:ext cx="10789920" cy="3200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Verdict : structure très solide 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03520"/>
            <a:ext cx="10789920" cy="109728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200" b="0" i="1">
                <a:solidFill>
                  <a:srgbClr val="9CA3AF"/>
                </a:solidFill>
                <a:latin typeface="Calibri"/>
              </a:rPr>
              <a:t>Couvre les 4 niveaux de signal (règle, edge, host, séquence) + vue topologique + fusion. C'est exactement le découplage « failure isolation » qu'on a posé dans ARCHITECTURE.md.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LateD — Présentation du projet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5720"/>
            <a:ext cx="7315200" cy="4572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LateD  ·  Lateral Movement Detection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2468880" cy="4572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SOC · TGNN · Real-time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14.  Mon avis détaillé sur les 6 têtes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  <a:latin typeface="Calibri"/>
              </a:rPr>
              <a:t>Ce qui est juste, ce qui mérite d'être affiné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27632"/>
            <a:ext cx="11247120" cy="15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5577840" cy="438912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5577840" cy="36576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65376"/>
            <a:ext cx="5029200" cy="3200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0B121F"/>
                </a:solidFill>
                <a:latin typeface="Calibri"/>
              </a:rPr>
              <a:t>✅  POINTS FORTS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31720"/>
            <a:ext cx="5212080" cy="3840480"/>
          </a:xfrm>
          <a:prstGeom prst="rect">
            <a:avLst/>
          </a:prstGeom>
          <a:noFill/>
        </p:spPr>
        <p:txBody>
          <a:bodyPr wrap="square" lIns="40000" rIns="40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Granularités complémentaires : flow / edge / host / séquence / topologie — pas de redondance inutile.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Fusion en dernier (F) : préserve le failure-isolation du design global. Aucun head n'éteint un autre.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TGN reste sur son terrain naturel (l'arête temporelle).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Rules en tête : utile pour l'explicabilité et le SOC (les analystes lisent du MITRE, pas du tenseur).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Topology (E) capte le pivoting que TGN seul peut manquer (signal lent type betweenness Δ).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Fusion ML (Logistic/XGBoost) → seuils ajustables sans ré-entraîner les têtes lourdes.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5486400" cy="438912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5486400" cy="36576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65376"/>
            <a:ext cx="5029200" cy="3200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0B121F"/>
                </a:solidFill>
                <a:latin typeface="Calibri"/>
              </a:rPr>
              <a:t>⚠️  À AFFINER / POINTS D'ATTENTION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31720"/>
            <a:ext cx="5212080" cy="3840480"/>
          </a:xfrm>
          <a:prstGeom prst="rect">
            <a:avLst/>
          </a:prstGeom>
          <a:noFill/>
        </p:spPr>
        <p:txBody>
          <a:bodyPr wrap="square" lIns="40000" rIns="40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87171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Aligner les granularités avant fusion : tout doit remonter à (host, window) — prévoyez un aggregator (max-pool / weighted) par head.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87171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C (Anomaly host×window) recoupe partiellement E (topology par host×snapshot). Définir clairement ce que chacun ne couvre PAS.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87171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D (Sequence) demande une notion d'« acteur » stable : user, host, ou session ? À trancher avant impl.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87171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Calibration : Logistic suppose des scores comparables. Pensez Platt-scaling ou isotonic par head avant XGBoost.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87171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Explicabilité de F : si XGBoost, prévoir SHAP par alerte (sinon on perd la promesse SOC).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87171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Cold-start : E (betweenness Δ) a besoin d'un baseline stable — fixer la durée d'apprentissage initiale.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LateD — Présentation du projet  · 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5720"/>
            <a:ext cx="7315200" cy="4572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LateD  ·  Lateral Movement Detection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2468880" cy="4572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SOC · TGNN · Real-time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15.  Recommandation &amp; 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  <a:latin typeface="Calibri"/>
              </a:rPr>
              <a:t>Adopter la structure 6 têtes — avec 4 garde-fous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27632"/>
            <a:ext cx="11247120" cy="15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11247120" cy="192024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128016" cy="19202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20240"/>
            <a:ext cx="1005840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✔  Garder la structure 6 têtes telle quelle, sous 4 conditions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0515600" cy="1463040"/>
          </a:xfrm>
          <a:prstGeom prst="rect">
            <a:avLst/>
          </a:prstGeom>
          <a:noFill/>
        </p:spPr>
        <p:txBody>
          <a:bodyPr wrap="square" lIns="40000" rIns="40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Un FeatureAggregator commun (host, window) qui aligne A/B/C/D/E avant la fusion F.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Une étape de calibration par head (Platt ou isotonic) pour que les scores soient comparables avant XGBoost.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Explicabilité obligatoire : SHAP côté F + remontée des flows sources côté A et B.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Tests d'isolation : chaque head doit pouvoir être désactivée sans casser les autres (failure isolation testé en CI).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11247120" cy="228600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128016" cy="2286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23360"/>
            <a:ext cx="1005840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Calibri"/>
              </a:rPr>
              <a:t>🗺  Roadmap d'implémentation suggérée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434840"/>
            <a:ext cx="10515600" cy="1737360"/>
          </a:xfrm>
          <a:prstGeom prst="rect">
            <a:avLst/>
          </a:prstGeom>
          <a:noFill/>
        </p:spPr>
        <p:txBody>
          <a:bodyPr wrap="square" lIns="40000" rIns="40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A78BFA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Sprint 1 : A (Rules) + E (Topology) → baseline démontrable sans dépendance GPU.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A78BFA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Sprint 2 : B (TGN) branché sur les snapshots existants — intégration avec src/models/tgn.py.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A78BFA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Sprint 3 : C + D (anomaly host-window + sequence LSTM) — entraînés sur LANL.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A78BFA"/>
                </a:solidFill>
                <a:latin typeface="Calibri"/>
              </a:rPr>
              <a:t>▸  </a:t>
            </a:r>
            <a:r>
              <a:rPr sz="1200">
                <a:solidFill>
                  <a:srgbClr val="E5E7EB"/>
                </a:solidFill>
                <a:latin typeface="Calibri"/>
              </a:rPr>
              <a:t>Sprint 4 : F (Fusion + calibration + SHAP) + tests failure-isolation en CI.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ctr"/>
            <a:r>
              <a:rPr sz="1400" b="1" i="0">
                <a:solidFill>
                  <a:srgbClr val="22D3EE"/>
                </a:solidFill>
                <a:latin typeface="Calibri"/>
              </a:rPr>
              <a:t>Questions ?  ·  ilef.bennour@ensi-uma.tn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