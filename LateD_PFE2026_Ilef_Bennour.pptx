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463040"/>
            <a:ext cx="3840480" cy="3840480"/>
          </a:xfrm>
          <a:prstGeom prst="rect">
            <a:avLst/>
          </a:prstGeom>
          <a:solidFill>
            <a:srgbClr val="142A4A"/>
          </a:solidFill>
          <a:ln w="1905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B8C4D6"/>
                </a:solidFill>
              </a:rPr>
              <a:t>
[ INSERT PHOTO ]</a:t>
            </a:r>
          </a:p>
          <a:p>
            <a:pPr algn="ctr"/>
            <a:r>
              <a:rPr sz="1100" i="1">
                <a:solidFill>
                  <a:srgbClr val="7A8699"/>
                </a:solidFill>
              </a:rPr>
              <a:t>(replace this placeholder)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463040"/>
            <a:ext cx="1920240" cy="365760"/>
          </a:xfrm>
          <a:prstGeom prst="round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PFE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965960"/>
            <a:ext cx="5943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Ilef Bennour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2971800"/>
            <a:ext cx="640080" cy="38100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315468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8C4D6"/>
                </a:solidFill>
                <a:latin typeface="Calibri"/>
              </a:rPr>
              <a:t>Intern  •  End-of-Studies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79476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ENSI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29768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B8C4D6"/>
                </a:solidFill>
                <a:latin typeface="Calibri"/>
              </a:rPr>
              <a:t>École Nationale des Sciences de l’Informatique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66344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B8C4D6"/>
                </a:solidFill>
                <a:latin typeface="Calibri"/>
              </a:rPr>
              <a:t>Université de la Manouba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760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8D9"/>
                </a:solidFill>
                <a:latin typeface="Calibri"/>
              </a:rPr>
              <a:t>LateD — Lateral Movement Detection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B8C4D6"/>
                </a:solidFill>
                <a:latin typeface="Calibri"/>
              </a:rPr>
              <a:t>PFE 2026 • ENSI — Université de la Manouba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Project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00B8D9"/>
                </a:solidFill>
                <a:latin typeface="Calibri"/>
              </a:rPr>
              <a:t>LateD — SOC platform for real-time lateral movement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86400" cy="4663440"/>
          </a:xfrm>
          <a:prstGeom prst="roundRect">
            <a:avLst/>
          </a:prstGeom>
          <a:solidFill>
            <a:srgbClr val="142A4A"/>
          </a:solidFill>
          <a:ln w="9525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371600" cy="365760"/>
          </a:xfrm>
          <a:prstGeom prst="round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GENERAL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Detect lateral movement inside enterprise networks using Temporal Graph Neural Networks.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B8D9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Lateral Movement detection via TGNN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B8D9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Internal reconnaissance (heuristic + behavioral)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B8D9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Attack-path reconstruction &amp; correlation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B8D9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Real-time SOC dashboard — command-center UX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B8D9"/>
                </a:solidFill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Explainable scoring — every alert is traceable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486400" cy="4663440"/>
          </a:xfrm>
          <a:prstGeom prst="roundRect">
            <a:avLst/>
          </a:prstGeom>
          <a:solidFill>
            <a:srgbClr val="142A4A"/>
          </a:solidFill>
          <a:ln w="9525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1783080"/>
            <a:ext cx="1737360" cy="365760"/>
          </a:xfrm>
          <a:prstGeom prst="round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EXECUTION PLAN</a:t>
            </a:r>
          </a:p>
        </p:txBody>
      </p:sp>
      <p:sp>
        <p:nvSpPr>
          <p:cNvPr id="12" name="Oval 11"/>
          <p:cNvSpPr/>
          <p:nvPr/>
        </p:nvSpPr>
        <p:spPr>
          <a:xfrm>
            <a:off x="6537960" y="2331720"/>
            <a:ext cx="502920" cy="502920"/>
          </a:xfrm>
          <a:prstGeom prst="ellipse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F3A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1343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OFFLINE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060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Train TGNN on LANL flows + redteam ground truth.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3200400"/>
            <a:ext cx="502920" cy="502920"/>
          </a:xfrm>
          <a:prstGeom prst="ellipse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F3A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18211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ONLINE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4747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Real-time detection on PCAP / Zeek / NetFlow streams.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406908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F3A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05079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Correlation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3434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Chain recon → LM, reconstruct attack paths.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4937760"/>
            <a:ext cx="502920" cy="502920"/>
          </a:xfrm>
          <a:prstGeom prst="ellipse">
            <a:avLst/>
          </a:prstGeom>
          <a:solidFill>
            <a:srgbClr val="36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F3A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91947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Supervision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52120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FastAPI + WebSocket + Next.js SOC dashboard.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B8C4D6"/>
                </a:solidFill>
                <a:latin typeface="Calibri"/>
              </a:rPr>
              <a:t>Slide 2 / 4  •  LateD — Project description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LM Detector — Training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00B8D9"/>
                </a:solidFill>
                <a:latin typeface="Calibri"/>
              </a:rPr>
              <a:t>Three regimes, same TGNN architecture, comparable on eval split.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703320" cy="338328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09928"/>
            <a:ext cx="2194560" cy="365760"/>
          </a:xfrm>
          <a:prstGeom prst="round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A · SELF-SUPERVISED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SSL link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B8C4D6"/>
                </a:solidFill>
                <a:latin typeface="Consolas"/>
              </a:rPr>
              <a:t>pretrain_ssl.py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32461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B8D9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Trains TGN backbone only — no labels used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B8D9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Loss: link-prediction on benign edges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B8D9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Score = 1 − P(link) at inference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B8D9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Pros: needs no red-team labels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B8D9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Cons: anomaly ≠ lateral movement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703320" cy="338328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1709928"/>
            <a:ext cx="2194560" cy="36576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B · SEMI-SUPERVISED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9456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SSL backbone + supervised 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8775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B8C4D6"/>
                </a:solidFill>
                <a:latin typeface="Consolas"/>
              </a:rPr>
              <a:t>pretrain_ssl.py  →  finetune_lm.py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71800"/>
            <a:ext cx="32461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A623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Backbone frozen from regime A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A623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LM head trained on weak labels (weak_labeler.py)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A623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pos_weight handles ≈1:333 imbalance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A623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Pros: little label cost, strong reuse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A623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Cons: limited by SSL representation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08760"/>
            <a:ext cx="3703320" cy="338328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36C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49640" y="1709928"/>
            <a:ext cx="2194560" cy="365760"/>
          </a:xfrm>
          <a:prstGeom prst="roundRect">
            <a:avLst/>
          </a:prstGeom>
          <a:solidFill>
            <a:srgbClr val="36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C · FULLY SUPERVISED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19456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End-to-end supervised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58775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B8C4D6"/>
                </a:solidFill>
                <a:latin typeface="Consolas"/>
              </a:rPr>
              <a:t>supervised_lm.py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971800"/>
            <a:ext cx="32461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6C27A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Backbone + head trained jointly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36C27A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Direct BCE on LM labels (mask recon)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36C27A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Backbone gradient driven by LM signal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36C27A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Pros: best-case ceiling for this data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36C27A"/>
                </a:solidFill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Cons: needs labels for the whole stream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Eval-set metrics  ·  populated by compare_training.py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40680"/>
            <a:ext cx="3703320" cy="320040"/>
          </a:xfrm>
          <a:prstGeom prst="rect">
            <a:avLst/>
          </a:prstGeom>
          <a:solidFill>
            <a:srgbClr val="142A4A"/>
          </a:solidFill>
          <a:ln w="635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8D9"/>
                </a:solidFill>
                <a:latin typeface="Calibri"/>
              </a:rPr>
              <a:t>Regime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5440680"/>
            <a:ext cx="1874519" cy="320040"/>
          </a:xfrm>
          <a:prstGeom prst="rect">
            <a:avLst/>
          </a:prstGeom>
          <a:solidFill>
            <a:srgbClr val="142A4A"/>
          </a:solidFill>
          <a:ln w="635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548640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8D9"/>
                </a:solidFill>
                <a:latin typeface="Calibri"/>
              </a:rPr>
              <a:t>AUC-ROC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79" y="5440680"/>
            <a:ext cx="1874519" cy="320040"/>
          </a:xfrm>
          <a:prstGeom prst="rect">
            <a:avLst/>
          </a:prstGeom>
          <a:solidFill>
            <a:srgbClr val="142A4A"/>
          </a:solidFill>
          <a:ln w="635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19" y="548640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8D9"/>
                </a:solidFill>
                <a:latin typeface="Calibri"/>
              </a:rPr>
              <a:t>AUC-PR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0998" y="5440680"/>
            <a:ext cx="1874519" cy="320040"/>
          </a:xfrm>
          <a:prstGeom prst="rect">
            <a:avLst/>
          </a:prstGeom>
          <a:solidFill>
            <a:srgbClr val="142A4A"/>
          </a:solidFill>
          <a:ln w="635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38" y="548640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8D9"/>
                </a:solidFill>
                <a:latin typeface="Calibri"/>
              </a:rPr>
              <a:t>Rec@1%FPR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17" y="5440680"/>
            <a:ext cx="1874519" cy="320040"/>
          </a:xfrm>
          <a:prstGeom prst="rect">
            <a:avLst/>
          </a:prstGeom>
          <a:solidFill>
            <a:srgbClr val="142A4A"/>
          </a:solidFill>
          <a:ln w="635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57" y="548640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8D9"/>
                </a:solidFill>
                <a:latin typeface="Calibri"/>
              </a:rPr>
              <a:t>Rec@10%FPR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60720"/>
            <a:ext cx="3703320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80644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 · SSL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5760720"/>
            <a:ext cx="1874519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580644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79" y="5760720"/>
            <a:ext cx="1874519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19" y="580644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0998" y="5760720"/>
            <a:ext cx="1874519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38" y="580644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17" y="5760720"/>
            <a:ext cx="1874519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57" y="580644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080760"/>
            <a:ext cx="3703320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12648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 · Semi-supervised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6080760"/>
            <a:ext cx="1874519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612648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TBD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79" y="6080760"/>
            <a:ext cx="1874519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19" y="612648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TBD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00998" y="6080760"/>
            <a:ext cx="1874519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92438" y="612648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TBD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75517" y="6080760"/>
            <a:ext cx="1874519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57" y="612648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TBD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400800"/>
            <a:ext cx="3703320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44652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 · Fully supervised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51960" y="6400800"/>
            <a:ext cx="1874519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43400" y="644652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TBD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79" y="6400800"/>
            <a:ext cx="1874519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19" y="644652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TBD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00998" y="6400800"/>
            <a:ext cx="1874519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92438" y="644652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TBD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75517" y="6400800"/>
            <a:ext cx="1874519" cy="320040"/>
          </a:xfrm>
          <a:prstGeom prst="rect">
            <a:avLst/>
          </a:prstGeom>
          <a:solidFill>
            <a:srgbClr val="102340"/>
          </a:solidFill>
          <a:ln w="3175">
            <a:solidFill>
              <a:srgbClr val="7A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66957" y="6446520"/>
            <a:ext cx="1691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Calibri"/>
              </a:rPr>
              <a:t>TBD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B8C4D6"/>
                </a:solidFill>
                <a:latin typeface="Calibri"/>
              </a:rPr>
              <a:t>Slide 3 / 4  •  Training regimes — see backend/.../compare_training.py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Progress &amp;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00B8D9"/>
                </a:solidFill>
                <a:latin typeface="Calibri"/>
              </a:rPr>
              <a:t>Where we are — and what comes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703320" cy="393192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36C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1188720" cy="365760"/>
          </a:xfrm>
          <a:prstGeom prst="roundRect">
            <a:avLst/>
          </a:prstGeom>
          <a:solidFill>
            <a:srgbClr val="36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2461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6C27A"/>
                </a:solidFill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Ingestion layer (PCAP / Zeek / NetFlow) — canonical flow schema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36C27A"/>
                </a:solidFill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Temporal Graph Modeling — snapshots &amp; edge features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36C27A"/>
                </a:solidFill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Project architecture &amp; repository scaffolding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36C27A"/>
                </a:solidFill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Network discovery (baseline topology)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703320" cy="393192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1737360"/>
            <a:ext cx="1645920" cy="36576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IN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32461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5A623"/>
                </a:solidFill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Detection Core — TGNN model design &amp; training loop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F5A623"/>
                </a:solidFill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Reconnaissance detector (heuristic baseline)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F5A623"/>
                </a:solidFill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Suspicion fusion module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F5A623"/>
                </a:solidFill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SOC frontend — Next.js dashboard scaffold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08760"/>
            <a:ext cx="3703320" cy="393192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49640" y="1737360"/>
            <a:ext cx="1188720" cy="365760"/>
          </a:xfrm>
          <a:prstGeom prst="round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TO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286000"/>
            <a:ext cx="32461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B8D9"/>
                </a:solidFill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Correlation engine — recon→LM chaining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B8D9"/>
                </a:solidFill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Supervision layer — REST + WebSocket + alert engine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B8D9"/>
                </a:solidFill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Online pipeline orchestration (real-time)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B8D9"/>
                </a:solidFill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Full SOC frontend (live graph view)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B8D9"/>
                </a:solidFill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Evaluation on LANL + ablations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35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Key 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6035040"/>
            <a:ext cx="5486400" cy="502920"/>
          </a:xfrm>
          <a:prstGeom prst="roundRect">
            <a:avLst/>
          </a:prstGeom>
          <a:solidFill>
            <a:srgbClr val="142A4A"/>
          </a:solidFill>
          <a:ln w="9525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126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8C4D6"/>
                </a:solidFill>
                <a:latin typeface="Calibri"/>
              </a:rPr>
              <a:t>Report submission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6126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B8D9"/>
                </a:solidFill>
                <a:latin typeface="Calibri"/>
              </a:rPr>
              <a:t>TBD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6035040"/>
            <a:ext cx="5486400" cy="502920"/>
          </a:xfrm>
          <a:prstGeom prst="roundRect">
            <a:avLst/>
          </a:prstGeom>
          <a:solidFill>
            <a:srgbClr val="142A4A"/>
          </a:solidFill>
          <a:ln w="9525">
            <a:solidFill>
              <a:srgbClr val="36C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6126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8C4D6"/>
                </a:solidFill>
                <a:latin typeface="Calibri"/>
              </a:rPr>
              <a:t>Internship end 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6126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36C27A"/>
                </a:solidFill>
                <a:latin typeface="Calibri"/>
              </a:rPr>
              <a:t>TBD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B8C4D6"/>
                </a:solidFill>
                <a:latin typeface="Calibri"/>
              </a:rPr>
              <a:t>Slide 4 / 4  •  Progress — dates to be confirmed before deposit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